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4" d="100"/>
          <a:sy n="74" d="100"/>
        </p:scale>
        <p:origin x="1042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232737-1093-339D-3120-0878F96C1B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200849C-C9EF-CD8D-6B07-E9F6752A53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3D8D0C-A55A-D42B-6F70-B3273EA51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F7DA11C-E965-FB5A-5037-105F09FC85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CF96B2-A0F2-BDB1-5323-BFFCC70AA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04505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C42A45-FF29-9097-B6A5-9C061B5CB2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616910-8E02-4AE3-A19A-5A3C918FFB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4375B2-B913-97EC-5896-4113028651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B506C9-F814-CF6C-2EC2-D50C3F75E2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64563C-2F2F-CCF8-8BE6-F348D1725B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8410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F0653-61C6-AB62-6356-0F4EFD7FEC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FF17F8-8DC0-8067-BE97-F1DE4CE076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64AA3B-A22E-BD5C-1AAF-297588F09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E7A9FC-C1D9-94D2-5A2E-056FFD2ADB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E0860-F2A6-920A-A139-62CFA12FED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966116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E1D65D-958A-5CB0-81F3-FA734BA60D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F43767-ADB9-FBC0-04EE-94DDB73842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4EAEE6-34D1-6911-1226-310A8D3C64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10316D-6B5A-2DD0-8A43-B3FD967DEF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7E041B-ACCE-D2C2-8202-55A4B2134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E0E855-3A71-1CCE-64DC-7975850CF0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03195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387DC1-06C4-9BF7-392D-07631DA696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0CEBC5C-C970-3EA6-4CCF-5EE53F53A3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E4192B-7EDC-3B76-1B2B-5C180474129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D09A5A-6E99-44EB-1934-6EF8A6AB10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B13DC6C-19A7-49BE-E9A3-1212775C064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34A3E18-CBC4-A11E-0F82-53AC894303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1C1B01-7D0D-1AE3-EB8D-813EA6FB5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8F50107-29F3-9813-6DE3-BE8F6A79FD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3744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5B39A9-2F45-31D2-3BC5-5646418A1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E2A98D8-03E5-FFB2-A0FE-F1A30F523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5B73616-F449-5AE5-66F3-4DF31FE294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B29DDC-C5BB-4846-E21A-4FE363BE83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406183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90A772-A8FD-ADEB-113D-CAE0BB418A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12C585-6F07-D982-2ACB-FF69DEB846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ECEAA6F-2359-26BB-D149-CCE9AFAB3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16868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62947-6B3F-22B6-FF38-3DFB15A0E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E0E2AC-7280-D182-12CA-AC7A273BF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CB3677-FE12-A1A4-ABD0-BF12B100B2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2AD888-4C33-A833-3321-C3D640B65D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93DEB2-460B-621B-0F23-F11E5E5571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532E03-3BEB-82D6-FC49-913F4F4B54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6433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88240-4116-1881-9BEA-5E33378843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8FE83-39EE-44D6-E280-9734BD3056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7BB697-43B8-1842-AC40-930440C5B5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4F68E7C-9964-7A93-DF58-61F5A63E7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B94A9B-90DF-4E4F-C8FE-7F3ABA9349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A5B66A-CBE2-8EB8-1477-265EFD8583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98027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A6995B-DC45-D45A-EDB2-FD9CA58A6D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9EBC-CC13-0B1F-731B-4111EB9298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CA6ACB-5E64-0E35-365D-A267F040B7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F24B43-F846-29E3-8D06-E5E06D3D3A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6A064E-5828-2497-5985-0A958CDCD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344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072984B-82C0-7803-1FF5-DF6E8EFFCE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B122558-6FF6-B54A-74DF-D7FB29ED0D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C7D804-8D15-F61C-397E-809555361F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84965F4-C873-EE93-C93B-B6A09722C3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F4EB71-418F-A00C-D3EB-6661C74E00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07308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3547D8-6DE1-03CF-1CEC-6789DD419E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DF801B-B366-243D-2247-3044F8C4D1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C6390E-0C6B-359F-24E6-CD1E3B2FF3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1829F4-BE06-4EE0-93F1-C64EA71693D7}" type="datetimeFigureOut">
              <a:rPr lang="en-IN" smtClean="0"/>
              <a:t>11-06-2026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3A955C-EEB5-2FEB-21F5-C8E3D6C5918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B457BE-C697-C395-F295-7C0CFFAC12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078E5B9-72DC-429A-B43F-3E5CD2CA4B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1209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4C7819-7E6C-4C58-CABC-78ED55F3AF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585883"/>
            <a:ext cx="9144000" cy="924079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dirty="0"/>
              <a:t>Reward Shaping with LSTM</a:t>
            </a:r>
          </a:p>
        </p:txBody>
      </p:sp>
    </p:spTree>
    <p:extLst>
      <p:ext uri="{BB962C8B-B14F-4D97-AF65-F5344CB8AC3E}">
        <p14:creationId xmlns:p14="http://schemas.microsoft.com/office/powerpoint/2010/main" val="246429784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0D6E3-B7DD-AD36-9EC2-F19F77102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108155"/>
            <a:ext cx="11926529" cy="80624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Dataset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4AD270-A16C-CD77-3FE8-79019D5F79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1042219"/>
            <a:ext cx="11926529" cy="5594555"/>
          </a:xfrm>
          <a:ln>
            <a:solidFill>
              <a:schemeClr val="tx1"/>
            </a:solidFill>
          </a:ln>
        </p:spPr>
        <p:txBody>
          <a:bodyPr/>
          <a:lstStyle/>
          <a:p>
            <a:pPr marL="0" indent="0">
              <a:buNone/>
            </a:pPr>
            <a:r>
              <a:rPr lang="en-IN" b="1" dirty="0"/>
              <a:t>Dataset</a:t>
            </a:r>
          </a:p>
          <a:p>
            <a:r>
              <a:rPr lang="en-IN" dirty="0"/>
              <a:t>30 Subjects </a:t>
            </a:r>
          </a:p>
          <a:p>
            <a:r>
              <a:rPr lang="en-IN" dirty="0"/>
              <a:t>Skeleton-based Kinect Data </a:t>
            </a:r>
          </a:p>
          <a:p>
            <a:r>
              <a:rPr lang="en-IN" dirty="0"/>
              <a:t>75 Features per Frame </a:t>
            </a:r>
          </a:p>
          <a:p>
            <a:r>
              <a:rPr lang="en-IN" dirty="0"/>
              <a:t>Sliding Window Technique </a:t>
            </a:r>
          </a:p>
          <a:p>
            <a:pPr marL="0" indent="0">
              <a:buNone/>
            </a:pPr>
            <a:r>
              <a:rPr lang="en-IN" b="1" dirty="0"/>
              <a:t>Window Parameters:</a:t>
            </a:r>
          </a:p>
          <a:p>
            <a:r>
              <a:rPr lang="en-IN" dirty="0"/>
              <a:t>Window Size = 64 </a:t>
            </a:r>
          </a:p>
          <a:p>
            <a:r>
              <a:rPr lang="en-IN" dirty="0"/>
              <a:t>Stride = 16 </a:t>
            </a:r>
          </a:p>
          <a:p>
            <a:pPr marL="0" indent="0">
              <a:buNone/>
            </a:pPr>
            <a:r>
              <a:rPr lang="en-IN" b="1" dirty="0"/>
              <a:t>Generated Samples:</a:t>
            </a:r>
          </a:p>
          <a:p>
            <a:r>
              <a:rPr lang="en-IN" dirty="0"/>
              <a:t>Total Windows = 7395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3348882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B3F5ED-ED5F-CC8D-6FCC-AF50BE209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9BBF43-5397-8446-BC09-B62827B281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108155"/>
            <a:ext cx="11926529" cy="80624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Data Preprocessing for Training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7EED93-2826-07EE-6522-E9B1EE8C80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1042219"/>
            <a:ext cx="11926529" cy="5594555"/>
          </a:xfrm>
          <a:ln>
            <a:solidFill>
              <a:schemeClr val="tx1"/>
            </a:solidFill>
          </a:ln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IN" b="1" dirty="0"/>
              <a:t>A)Window-wise split: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In window-wise splitting, the generated windows are randomly divided into training and testing sets.</a:t>
            </a:r>
          </a:p>
          <a:p>
            <a:pPr marL="0" indent="0">
              <a:buNone/>
            </a:pPr>
            <a:r>
              <a:rPr lang="en-IN" dirty="0"/>
              <a:t>Suppose the dataset contains:  100 Total Windows</a:t>
            </a:r>
          </a:p>
          <a:p>
            <a:r>
              <a:rPr lang="en-IN" dirty="0"/>
              <a:t>Training Set = 70 Windows</a:t>
            </a:r>
            <a:br>
              <a:rPr lang="en-IN" dirty="0"/>
            </a:br>
            <a:r>
              <a:rPr lang="en-IN" dirty="0"/>
              <a:t>Testing Set  = 30 Windows</a:t>
            </a:r>
          </a:p>
          <a:p>
            <a:r>
              <a:rPr lang="en-IN" dirty="0"/>
              <a:t>The windows are selected randomly.</a:t>
            </a:r>
          </a:p>
          <a:p>
            <a:pPr marL="0" indent="0">
              <a:buNone/>
            </a:pPr>
            <a:r>
              <a:rPr lang="en-US" b="1" dirty="0"/>
              <a:t>Example: </a:t>
            </a:r>
            <a:r>
              <a:rPr lang="en-US" dirty="0"/>
              <a:t>Person 5:</a:t>
            </a:r>
          </a:p>
          <a:p>
            <a:r>
              <a:rPr lang="en-US" dirty="0"/>
              <a:t>Window 1 → Train</a:t>
            </a:r>
          </a:p>
          <a:p>
            <a:r>
              <a:rPr lang="en-US" dirty="0"/>
              <a:t>Window 2 → Test</a:t>
            </a:r>
          </a:p>
          <a:p>
            <a:r>
              <a:rPr lang="en-US" dirty="0"/>
              <a:t>Window 3 → Train</a:t>
            </a:r>
          </a:p>
          <a:p>
            <a:r>
              <a:rPr lang="en-US" dirty="0"/>
              <a:t>Window 4 → Test</a:t>
            </a:r>
            <a:endParaRPr lang="en-IN" dirty="0"/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293209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917E1E-7B72-763E-3962-0DAECA9EDF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5DBE8-BD21-5636-81F6-C74B35354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108155"/>
            <a:ext cx="11926529" cy="80624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Data Preprocessing for Training and Testing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A43877-C712-0195-024E-333F6FE786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55" y="1042219"/>
            <a:ext cx="11926529" cy="5594555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B)Person-wise split:</a:t>
            </a:r>
          </a:p>
          <a:p>
            <a:pPr marL="0" indent="0">
              <a:buNone/>
            </a:pPr>
            <a:r>
              <a:rPr lang="en-IN" dirty="0">
                <a:sym typeface="Wingdings" panose="05000000000000000000" pitchFamily="2" charset="2"/>
              </a:rPr>
              <a:t></a:t>
            </a:r>
            <a:r>
              <a:rPr lang="en-IN" dirty="0"/>
              <a:t>In person-wise splitting, the subjects are first divided into training and testing groups. All windows belonging to a subject are placed entirely in either the training set or the testing set.</a:t>
            </a:r>
          </a:p>
          <a:p>
            <a:pPr marL="0" indent="0">
              <a:buNone/>
            </a:pPr>
            <a:r>
              <a:rPr lang="en-IN" b="1" dirty="0"/>
              <a:t>Example:</a:t>
            </a:r>
          </a:p>
          <a:p>
            <a:pPr marL="0" indent="0">
              <a:buNone/>
            </a:pPr>
            <a:r>
              <a:rPr lang="en-IN" u="sng" dirty="0"/>
              <a:t>Train Subjects: </a:t>
            </a:r>
            <a:r>
              <a:rPr lang="en-IN" dirty="0"/>
              <a:t>Person 1, Person 3, Person 4 ..., Person 24</a:t>
            </a:r>
          </a:p>
          <a:p>
            <a:pPr marL="0" indent="0">
              <a:buNone/>
            </a:pPr>
            <a:r>
              <a:rPr lang="en-IN" u="sng" dirty="0"/>
              <a:t>Test Subjects: </a:t>
            </a:r>
            <a:r>
              <a:rPr lang="en-IN" dirty="0"/>
              <a:t>Person 2, Person 6, Person 10 ..., Person 30</a:t>
            </a:r>
          </a:p>
          <a:p>
            <a:pPr marL="0" indent="0">
              <a:buNone/>
            </a:pPr>
            <a:endParaRPr lang="en-IN" dirty="0"/>
          </a:p>
          <a:p>
            <a:pPr marL="0" indent="0">
              <a:buNone/>
            </a:pPr>
            <a:r>
              <a:rPr lang="en-IN" b="1" dirty="0"/>
              <a:t>Note: </a:t>
            </a:r>
            <a:r>
              <a:rPr lang="en-IN" dirty="0"/>
              <a:t>This type of training helps for real-world HAR Data and Unseen Data.</a:t>
            </a: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0681203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5DCCFC-FEFF-BCFE-B001-7A69005B7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9B694F-3739-A4B2-E70D-373F700493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108155"/>
            <a:ext cx="11926529" cy="80624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Results for Window-wise split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C36BACB8-52FD-AA35-7D8F-4FB706ED180B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9247" y="1036266"/>
            <a:ext cx="5852172" cy="5001778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9DE660A-37C5-6F0D-CFB6-B34F0C511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007" y="1562364"/>
            <a:ext cx="4244708" cy="2415749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C92073-B289-F41A-6F6E-2239C44D8768}"/>
              </a:ext>
            </a:extLst>
          </p:cNvPr>
          <p:cNvSpPr txBox="1"/>
          <p:nvPr/>
        </p:nvSpPr>
        <p:spPr>
          <a:xfrm>
            <a:off x="7423354" y="4626077"/>
            <a:ext cx="2300749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/>
              <a:t>Accuracy = 96%</a:t>
            </a:r>
          </a:p>
        </p:txBody>
      </p:sp>
    </p:spTree>
    <p:extLst>
      <p:ext uri="{BB962C8B-B14F-4D97-AF65-F5344CB8AC3E}">
        <p14:creationId xmlns:p14="http://schemas.microsoft.com/office/powerpoint/2010/main" val="4236424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AD0A7-1BBE-6728-3851-2A1707109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9A2AA3-E11C-B4E7-C775-4D9524814A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108155"/>
            <a:ext cx="11926529" cy="80624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Results for Person-wise split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F6FE8D7-9A33-88B8-7BF8-81CEA312A770}"/>
              </a:ext>
            </a:extLst>
          </p:cNvPr>
          <p:cNvSpPr txBox="1"/>
          <p:nvPr/>
        </p:nvSpPr>
        <p:spPr>
          <a:xfrm>
            <a:off x="7669162" y="4937223"/>
            <a:ext cx="2517058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/>
              <a:t>Accuracy = 80.50%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B32DF8AC-0B8A-6DBE-B769-9CE06FCC45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817" y="1032079"/>
            <a:ext cx="6025331" cy="4791031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C3AC9CE-1DBA-6ECF-E69C-3DA6153B71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4905" y="1459112"/>
            <a:ext cx="4381880" cy="27205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6725477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E97F4-CB0E-F22D-C326-C3675B8B64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D5F56-FB3A-9199-D892-EFE8BCAC30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55" y="108155"/>
            <a:ext cx="11926529" cy="80624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Results for Person-wise split + Reward Shaping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F14538B-3A69-5D81-F05D-99DF1F448AAA}"/>
              </a:ext>
            </a:extLst>
          </p:cNvPr>
          <p:cNvSpPr txBox="1"/>
          <p:nvPr/>
        </p:nvSpPr>
        <p:spPr>
          <a:xfrm>
            <a:off x="7669162" y="4937223"/>
            <a:ext cx="2271251" cy="46166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IN" sz="2400" b="1" dirty="0"/>
              <a:t>Accuracy = 78%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11DF29-5671-1B39-6067-D7F0E18D9C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7743" y="1542087"/>
            <a:ext cx="4206605" cy="2377646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CDA357CF-40F4-20ED-B1E8-A07D4E228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1477" y="1177413"/>
            <a:ext cx="6011503" cy="4780036"/>
          </a:xfrm>
          <a:prstGeom prst="rect">
            <a:avLst/>
          </a:prstGeom>
          <a:noFill/>
          <a:ln>
            <a:solidFill>
              <a:schemeClr val="tx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0153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82CE33-E175-DCD6-694C-2FE9A4EA94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7204" y="115743"/>
            <a:ext cx="11897591" cy="892175"/>
          </a:xfrm>
          <a:ln>
            <a:solidFill>
              <a:schemeClr val="tx1"/>
            </a:solidFill>
          </a:ln>
        </p:spPr>
        <p:txBody>
          <a:bodyPr/>
          <a:lstStyle/>
          <a:p>
            <a:r>
              <a:rPr lang="en-IN" b="1" dirty="0"/>
              <a:t>Observations on Reward Shaping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50F8C8-3ED4-9FB5-D72B-C6C485D7D0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7205" y="1257300"/>
            <a:ext cx="11897590" cy="5382491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dirty="0"/>
              <a:t>1)</a:t>
            </a:r>
            <a:r>
              <a:rPr lang="en-IN" b="1" dirty="0"/>
              <a:t>Improves Difficult Classes</a:t>
            </a:r>
          </a:p>
          <a:p>
            <a:r>
              <a:rPr lang="en-IN" dirty="0"/>
              <a:t>Helps the model learn challenging activities more effectively.</a:t>
            </a:r>
          </a:p>
          <a:p>
            <a:r>
              <a:rPr lang="en-IN" dirty="0"/>
              <a:t>Example:</a:t>
            </a:r>
            <a:br>
              <a:rPr lang="en-IN" dirty="0"/>
            </a:br>
            <a:r>
              <a:rPr lang="en-IN" dirty="0"/>
              <a:t>Jumping Recall improved from 28.3% to 36.1%.</a:t>
            </a:r>
          </a:p>
          <a:p>
            <a:pPr marL="0" indent="0">
              <a:buNone/>
            </a:pPr>
            <a:r>
              <a:rPr lang="en-IN" dirty="0"/>
              <a:t>2)</a:t>
            </a:r>
            <a:r>
              <a:rPr lang="en-IN" b="1" dirty="0"/>
              <a:t> Focuses on Important Errors</a:t>
            </a:r>
            <a:endParaRPr lang="en-IN" dirty="0"/>
          </a:p>
          <a:p>
            <a:r>
              <a:rPr lang="en-IN" dirty="0"/>
              <a:t>Instead of treating all errors equally, the model focuses on critical mistakes. </a:t>
            </a:r>
          </a:p>
          <a:p>
            <a:r>
              <a:rPr lang="en-IN" b="1" dirty="0"/>
              <a:t>Example:</a:t>
            </a:r>
            <a:r>
              <a:rPr lang="en-IN" dirty="0"/>
              <a:t> Extra penalty applied for Jumping → Running and Jumping → Walking.</a:t>
            </a:r>
          </a:p>
          <a:p>
            <a:pPr marL="0" indent="0">
              <a:buNone/>
            </a:pPr>
            <a:r>
              <a:rPr lang="en-IN" b="1" dirty="0"/>
              <a:t>3) No Model Modification Required</a:t>
            </a:r>
            <a:endParaRPr lang="en-IN" dirty="0"/>
          </a:p>
          <a:p>
            <a:r>
              <a:rPr lang="en-IN" dirty="0"/>
              <a:t>Improves learning behaviour without changing the network architecture. Only loss function is modified.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059836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</TotalTime>
  <Words>312</Words>
  <Application>Microsoft Office PowerPoint</Application>
  <PresentationFormat>Widescreen</PresentationFormat>
  <Paragraphs>46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Wingdings</vt:lpstr>
      <vt:lpstr>Office Theme</vt:lpstr>
      <vt:lpstr>Reward Shaping with LSTM</vt:lpstr>
      <vt:lpstr>Dataset</vt:lpstr>
      <vt:lpstr>Data Preprocessing for Training and Testing</vt:lpstr>
      <vt:lpstr>Data Preprocessing for Training and Testing</vt:lpstr>
      <vt:lpstr>Results for Window-wise split</vt:lpstr>
      <vt:lpstr>Results for Person-wise split</vt:lpstr>
      <vt:lpstr>Results for Person-wise split + Reward Shaping</vt:lpstr>
      <vt:lpstr>Observations on Reward Shaping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poojith kumar parchuri</dc:creator>
  <cp:lastModifiedBy>poojith kumar parchuri</cp:lastModifiedBy>
  <cp:revision>2</cp:revision>
  <dcterms:created xsi:type="dcterms:W3CDTF">2026-06-10T19:53:03Z</dcterms:created>
  <dcterms:modified xsi:type="dcterms:W3CDTF">2026-06-10T20:23:05Z</dcterms:modified>
</cp:coreProperties>
</file>